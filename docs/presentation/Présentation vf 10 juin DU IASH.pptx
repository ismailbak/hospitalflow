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P/r5MOXFm2ZS98yvOHEjW07R7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Cécile</a:t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20.png"/><Relationship Id="rId8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13" Type="http://schemas.openxmlformats.org/officeDocument/2006/relationships/image" Target="../media/image30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Relationship Id="rId4" Type="http://schemas.openxmlformats.org/officeDocument/2006/relationships/image" Target="../media/image13.png"/><Relationship Id="rId9" Type="http://schemas.openxmlformats.org/officeDocument/2006/relationships/image" Target="../media/image24.png"/><Relationship Id="rId5" Type="http://schemas.openxmlformats.org/officeDocument/2006/relationships/image" Target="../media/image16.jpg"/><Relationship Id="rId6" Type="http://schemas.openxmlformats.org/officeDocument/2006/relationships/image" Target="../media/image25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 flipH="1">
            <a:off x="8389618" y="5038397"/>
            <a:ext cx="11658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7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endParaRPr/>
          </a:p>
        </p:txBody>
      </p:sp>
      <p:sp>
        <p:nvSpPr>
          <p:cNvPr id="90" name="Google Shape;9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61" y="249832"/>
            <a:ext cx="1499746" cy="1499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5532" y="4985406"/>
            <a:ext cx="1736069" cy="1736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23577" y="249832"/>
            <a:ext cx="1597290" cy="1725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3059" y="5023071"/>
            <a:ext cx="1542422" cy="158509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53262" y="4895571"/>
            <a:ext cx="1825903" cy="1825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95663" y="1323492"/>
            <a:ext cx="9372600" cy="378493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/>
          <p:nvPr/>
        </p:nvSpPr>
        <p:spPr>
          <a:xfrm>
            <a:off x="4766566" y="432719"/>
            <a:ext cx="181665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TEAM 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1936318" y="36512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fr-FR"/>
            </a:br>
            <a:r>
              <a:rPr b="1" lang="fr-FR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POURQUOI LE PROJET HDJ AGENT IA?</a:t>
            </a:r>
            <a:br>
              <a:rPr lang="fr-FR"/>
            </a:b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1055369" y="190885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/>
              <a:t>CHU de Guyane créé il y a bientôt 1 an, dans un </a:t>
            </a:r>
            <a:r>
              <a:rPr b="1" lang="fr-FR"/>
              <a:t>contexte économique très contraint </a:t>
            </a:r>
            <a:r>
              <a:rPr lang="fr-FR"/>
              <a:t>et avec beaucoup d’attente autour du </a:t>
            </a:r>
            <a:r>
              <a:rPr b="1" lang="fr-FR"/>
              <a:t>développement de l’offre de soins </a:t>
            </a:r>
            <a:r>
              <a:rPr lang="fr-FR"/>
              <a:t>dans un territoire où les indicateurs de </a:t>
            </a:r>
            <a:r>
              <a:rPr b="1" lang="fr-FR"/>
              <a:t>santé publique </a:t>
            </a:r>
            <a:r>
              <a:rPr lang="fr-FR"/>
              <a:t>sont très dégradés (morbi-mortalité, accès aux soins notamment)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/>
              <a:t>Recherche de leviers de meilleure </a:t>
            </a:r>
            <a:r>
              <a:rPr b="1" lang="fr-FR"/>
              <a:t>valorisation</a:t>
            </a:r>
            <a:r>
              <a:rPr lang="fr-FR"/>
              <a:t> et d’</a:t>
            </a:r>
            <a:r>
              <a:rPr b="1" lang="fr-FR"/>
              <a:t>optimisation </a:t>
            </a:r>
            <a:r>
              <a:rPr lang="fr-FR"/>
              <a:t>de l’activité de l’établissement par la </a:t>
            </a:r>
            <a:r>
              <a:rPr b="1" lang="fr-FR"/>
              <a:t>gouvernance</a:t>
            </a:r>
            <a:r>
              <a:rPr lang="fr-FR"/>
              <a:t> du CHU, avec une vraie préoccupation autour d’une amélioration de la prise en charge des patients, et de l’expérience patient en général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fr-FR"/>
              <a:t>Il ne s’agit donc pas d’un outil d’aide à la décision médicale, mais </a:t>
            </a:r>
            <a:r>
              <a:rPr b="1" lang="fr-FR"/>
              <a:t>d’outil de gestion</a:t>
            </a:r>
            <a:r>
              <a:rPr lang="fr-FR"/>
              <a:t> à destination de la gouvernance médico administrative (initiative similaire lancée en parallèle au CHU de Nancy avec l’Ecole Polytechnique)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421" y="146958"/>
            <a:ext cx="1505789" cy="1505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5478" y="146958"/>
            <a:ext cx="1719221" cy="176189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119" y="171915"/>
            <a:ext cx="1617972" cy="1617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12664" y="134044"/>
            <a:ext cx="1720603" cy="176189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>
            <p:ph idx="1" type="body"/>
          </p:nvPr>
        </p:nvSpPr>
        <p:spPr>
          <a:xfrm>
            <a:off x="711166" y="5346680"/>
            <a:ext cx="10769667" cy="1339405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fr-FR" sz="3000"/>
              <a:t>Objectif 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Transformer l’activité ambulatoire fragmentée en une activité structurée et pilotée grâce à l’IA, au service de la performance organisationnelle multi-agents</a:t>
            </a:r>
            <a:endParaRPr/>
          </a:p>
        </p:txBody>
      </p:sp>
      <p:pic>
        <p:nvPicPr>
          <p:cNvPr id="120" name="Google Shape;12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2844" y="594405"/>
            <a:ext cx="5346309" cy="475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/>
          <p:nvPr/>
        </p:nvSpPr>
        <p:spPr>
          <a:xfrm>
            <a:off x="3129174" y="1191125"/>
            <a:ext cx="5590314" cy="4082321"/>
          </a:xfrm>
          <a:prstGeom prst="rect">
            <a:avLst/>
          </a:prstGeom>
          <a:noFill/>
          <a:ln cap="flat" cmpd="sng" w="381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idx="1" type="body"/>
          </p:nvPr>
        </p:nvSpPr>
        <p:spPr>
          <a:xfrm>
            <a:off x="838200" y="375828"/>
            <a:ext cx="10515600" cy="4387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4000"/>
              <a:buNone/>
            </a:pPr>
            <a:r>
              <a:rPr b="1" lang="fr-FR" sz="4000">
                <a:solidFill>
                  <a:srgbClr val="002060"/>
                </a:solidFill>
              </a:rPr>
              <a:t>NOTRE HYPOTHESE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4000"/>
              <a:buNone/>
            </a:pPr>
            <a:r>
              <a:rPr b="1" lang="fr-FR" sz="4000">
                <a:solidFill>
                  <a:srgbClr val="002060"/>
                </a:solidFill>
              </a:rPr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Un système d’IA multi-agents capable d’orchestrer les ressources humaines, les infrastructures, les flux patients, les contraintes médicales, </a:t>
            </a:r>
            <a:r>
              <a:rPr b="1" lang="fr-FR"/>
              <a:t>permet d’optimiser automatiquement la planification des HDJ</a:t>
            </a:r>
            <a:endParaRPr/>
          </a:p>
        </p:txBody>
      </p:sp>
      <p:pic>
        <p:nvPicPr>
          <p:cNvPr id="128" name="Google Shape;1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8866" y="3806314"/>
            <a:ext cx="2034268" cy="2785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119" y="171915"/>
            <a:ext cx="1617972" cy="1617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70001" y="182506"/>
            <a:ext cx="1524132" cy="1560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84" y="236651"/>
            <a:ext cx="1761897" cy="1761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0001" y="182506"/>
            <a:ext cx="1524132" cy="156071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>
            <p:ph type="title"/>
          </p:nvPr>
        </p:nvSpPr>
        <p:spPr>
          <a:xfrm>
            <a:off x="2188807" y="623497"/>
            <a:ext cx="788246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b="1" lang="fr-FR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POURQUOI CIBLER L’ENDOCRINOLOGIE-DIABETOLOGIE DANS LE CADRE DU DATATHON</a:t>
            </a:r>
            <a:endParaRPr/>
          </a:p>
        </p:txBody>
      </p:sp>
      <p:sp>
        <p:nvSpPr>
          <p:cNvPr id="139" name="Google Shape;139;p6"/>
          <p:cNvSpPr txBox="1"/>
          <p:nvPr>
            <p:ph idx="1" type="body"/>
          </p:nvPr>
        </p:nvSpPr>
        <p:spPr>
          <a:xfrm>
            <a:off x="838200" y="2748785"/>
            <a:ext cx="10515600" cy="2983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Forte prévalence des pathologies liées à la spécialité, aggravée par un taux de précarité important dans nos territoires ultra marins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 Difficultés de coordination des parcours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fr-FR"/>
              <a:t>Sous utilisation des ressources hospitalières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548" y="209006"/>
            <a:ext cx="10063324" cy="655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1440"/>
            <a:ext cx="1263227" cy="12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24000" y="91440"/>
            <a:ext cx="1524132" cy="156071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9372" y="0"/>
            <a:ext cx="7053942" cy="6874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784" y="516051"/>
            <a:ext cx="1761897" cy="1761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65200" y="516051"/>
            <a:ext cx="1524132" cy="156071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4195" y="195943"/>
            <a:ext cx="7017102" cy="655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051" y="363651"/>
            <a:ext cx="1761897" cy="1761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65200" y="363651"/>
            <a:ext cx="1524132" cy="156071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1656" y="77168"/>
            <a:ext cx="6697998" cy="678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7451" y="295918"/>
            <a:ext cx="1598499" cy="159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0417" y="263388"/>
            <a:ext cx="1524132" cy="156071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>
            <p:ph idx="1" type="body"/>
          </p:nvPr>
        </p:nvSpPr>
        <p:spPr>
          <a:xfrm>
            <a:off x="626883" y="1977895"/>
            <a:ext cx="10515600" cy="4833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fr-FR"/>
              <a:t>Agents Autonomes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Entités capables d'agir sans intervention humaine directe, possédant leurs propres objectifs et règles de décision.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fr-FR"/>
              <a:t>Environnement Partagé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Espace physique ou virtuel où les agents perçoivent des données, interagissent et modifient l'état global.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fr-FR"/>
              <a:t>Intelligence Émergente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Le comportement complexe du système naît des interactions locales (coopération/compétition) plutôt que d'un contrôle central.</a:t>
            </a:r>
            <a:endParaRPr/>
          </a:p>
        </p:txBody>
      </p:sp>
      <p:sp>
        <p:nvSpPr>
          <p:cNvPr id="178" name="Google Shape;178;p11"/>
          <p:cNvSpPr txBox="1"/>
          <p:nvPr>
            <p:ph type="title"/>
          </p:nvPr>
        </p:nvSpPr>
        <p:spPr>
          <a:xfrm>
            <a:off x="1645134" y="763033"/>
            <a:ext cx="8901732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alibri"/>
              <a:buNone/>
            </a:pPr>
            <a:r>
              <a:rPr b="1" lang="fr-FR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PRINCIPE DES SYSTEMES MULTI-AGENTS</a:t>
            </a:r>
            <a:endParaRPr/>
          </a:p>
        </p:txBody>
      </p:sp>
      <p:pic>
        <p:nvPicPr>
          <p:cNvPr id="179" name="Google Shape;1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871" y="46563"/>
            <a:ext cx="1598499" cy="159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80417" y="227293"/>
            <a:ext cx="1524132" cy="156071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>
            <p:ph type="title"/>
          </p:nvPr>
        </p:nvSpPr>
        <p:spPr>
          <a:xfrm>
            <a:off x="2017295" y="30307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alibri"/>
              <a:buNone/>
            </a:pPr>
            <a:r>
              <a:rPr b="1" lang="fr-FR" sz="40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PERTINENCE DU SMA POUR L’HOPITAL</a:t>
            </a:r>
            <a:endParaRPr/>
          </a:p>
        </p:txBody>
      </p:sp>
      <p:sp>
        <p:nvSpPr>
          <p:cNvPr id="188" name="Google Shape;188;p12"/>
          <p:cNvSpPr txBox="1"/>
          <p:nvPr>
            <p:ph idx="1" type="body"/>
          </p:nvPr>
        </p:nvSpPr>
        <p:spPr>
          <a:xfrm>
            <a:off x="838200" y="1863789"/>
            <a:ext cx="11217442" cy="4873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fr-FR"/>
              <a:t>Modélisation Fidèle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Représentation granulaire des acteurs (soignants, patients) évoluant sur un plan physique réel pour identifier les congestions.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fr-FR"/>
              <a:t>Simulation Sans Risque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Laboratoire virtuel pour tester des changements d'organisation (planning, ressources) sans impact sur la sécurité des soins réels.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fr-FR"/>
              <a:t>Optimisation des Flux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Réduction drastique des temps d'attente en identifiant dynamiquement les meilleurs parcours pour chaque profil patient.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fr-FR"/>
              <a:t>Gestion de l'Aléatoire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Capacité à simuler la variabilité des soins (stochasticité) et à réagir aux imprévus grâce à la flexibilité des agents.</a:t>
            </a:r>
            <a:endParaRPr/>
          </a:p>
        </p:txBody>
      </p:sp>
      <p:pic>
        <p:nvPicPr>
          <p:cNvPr id="189" name="Google Shape;1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451" y="295918"/>
            <a:ext cx="1598499" cy="159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80417" y="155104"/>
            <a:ext cx="1524132" cy="156071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/>
          <p:nvPr>
            <p:ph type="title"/>
          </p:nvPr>
        </p:nvSpPr>
        <p:spPr>
          <a:xfrm>
            <a:off x="1885950" y="4043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400"/>
              <a:buFont typeface="Calibri"/>
              <a:buNone/>
            </a:pPr>
            <a:r>
              <a:rPr b="1" lang="fr-FR" sz="34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ARCHITECTURE &amp; MOTEUR TECHNOLOGIQUE</a:t>
            </a:r>
            <a:endParaRPr/>
          </a:p>
        </p:txBody>
      </p:sp>
      <p:sp>
        <p:nvSpPr>
          <p:cNvPr id="197" name="Google Shape;197;p13"/>
          <p:cNvSpPr txBox="1"/>
          <p:nvPr>
            <p:ph idx="1" type="body"/>
          </p:nvPr>
        </p:nvSpPr>
        <p:spPr>
          <a:xfrm>
            <a:off x="838200" y="1922616"/>
            <a:ext cx="10515600" cy="4877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fr-FR"/>
              <a:t>Framework de Modélisation 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Utilisation de Mesa (Python) pour orchestrer la planification, le cycle de vie des agents et la gestion de l'espace.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fr-FR"/>
              <a:t>Navigation Intelligente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Jumeau numérique de l'hôpital sous forme de Graphes (nœuds et arêtes) pour optimiser les flux et les déplacements des agents.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fr-FR"/>
              <a:t>Optimisation des Soins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fr-FR"/>
              <a:t>Un Agent Coordinateur central qui réorganise dynamiquement les consultations en HDJ selon les contraintes de ressources sur la base des fichiers PMSI</a:t>
            </a:r>
            <a:endParaRPr/>
          </a:p>
        </p:txBody>
      </p:sp>
      <p:pic>
        <p:nvPicPr>
          <p:cNvPr id="198" name="Google Shape;1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451" y="295918"/>
            <a:ext cx="1598499" cy="1598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80417" y="155104"/>
            <a:ext cx="1524132" cy="156071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5007" y="118202"/>
            <a:ext cx="6949440" cy="6739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651" y="321318"/>
            <a:ext cx="1761897" cy="1761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40906" y="421910"/>
            <a:ext cx="1524132" cy="156071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9246" y="182364"/>
            <a:ext cx="8156322" cy="6675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185" y="363651"/>
            <a:ext cx="1761897" cy="1761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5568" y="363651"/>
            <a:ext cx="1524132" cy="156071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>
            <p:ph idx="1" type="body"/>
          </p:nvPr>
        </p:nvSpPr>
        <p:spPr>
          <a:xfrm>
            <a:off x="838200" y="257816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</a:pPr>
            <a:r>
              <a:rPr b="1" i="1" lang="fr-FR" sz="5400">
                <a:latin typeface="Arial"/>
                <a:ea typeface="Arial"/>
                <a:cs typeface="Arial"/>
                <a:sym typeface="Arial"/>
              </a:rPr>
              <a:t>Démonstration du MVP en live </a:t>
            </a:r>
            <a:endParaRPr/>
          </a:p>
        </p:txBody>
      </p:sp>
      <p:pic>
        <p:nvPicPr>
          <p:cNvPr id="222" name="Google Shape;2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651" y="321318"/>
            <a:ext cx="1761897" cy="1761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5568" y="363651"/>
            <a:ext cx="1524132" cy="156071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/>
          <p:nvPr/>
        </p:nvSpPr>
        <p:spPr>
          <a:xfrm flipH="1">
            <a:off x="1809203" y="470263"/>
            <a:ext cx="344859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 u="sng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RESULTATS ATTENDUS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 flipH="1">
            <a:off x="7238999" y="470263"/>
            <a:ext cx="32722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 u="sng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RESULTATS OBTENUS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378823" y="1567543"/>
            <a:ext cx="33571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Bénéfices organisationnels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378823" y="3194503"/>
            <a:ext cx="33571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Bénéfices économiques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378823" y="5001073"/>
            <a:ext cx="33571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Bénéfices médicaux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 flipH="1">
            <a:off x="378823" y="2038871"/>
            <a:ext cx="558437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Augmentation du nombre de patients prise en charge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Réduction des listes d’attente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Optimisation des ressources existantes 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 flipH="1">
            <a:off x="378821" y="3659206"/>
            <a:ext cx="558437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Augmentation de la valorisation PMSI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Meilleure utilisation des GHS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Amélioration du rendement capacitaire 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 flipH="1">
            <a:off x="378822" y="5591926"/>
            <a:ext cx="558437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Parcours plus fluide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Coordination renforcée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Amélioration de la qualité des soins</a:t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5684519" y="2091463"/>
            <a:ext cx="818605" cy="25980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5684519" y="2383685"/>
            <a:ext cx="818605" cy="25980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5684518" y="2667228"/>
            <a:ext cx="818605" cy="25980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5684517" y="3711782"/>
            <a:ext cx="818605" cy="25980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5684516" y="3985461"/>
            <a:ext cx="818605" cy="25980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5684516" y="4244264"/>
            <a:ext cx="818605" cy="25980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5684515" y="5747615"/>
            <a:ext cx="818605" cy="25980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5684514" y="6007424"/>
            <a:ext cx="818605" cy="25980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5684514" y="6240959"/>
            <a:ext cx="818605" cy="25980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>
            <a:off x="7559040" y="1567543"/>
            <a:ext cx="33571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Bénéfices organisationnels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7559040" y="3188066"/>
            <a:ext cx="33571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Bénéfices économiques</a:t>
            </a:r>
            <a:endParaRPr/>
          </a:p>
        </p:txBody>
      </p:sp>
      <p:sp>
        <p:nvSpPr>
          <p:cNvPr id="248" name="Google Shape;248;p17"/>
          <p:cNvSpPr txBox="1"/>
          <p:nvPr/>
        </p:nvSpPr>
        <p:spPr>
          <a:xfrm>
            <a:off x="7559040" y="5002628"/>
            <a:ext cx="33571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Bénéfices médicaux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 flipH="1">
            <a:off x="6879771" y="2091068"/>
            <a:ext cx="558437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Réalisé (taux d’occupation HDJ)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Réalisé (attente moyenne)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Réalisé (goulot)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 flipH="1">
            <a:off x="6879770" y="3711782"/>
            <a:ext cx="558437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Réalisé (valorisation indicative)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perspective à réaliser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perspective à réaliser</a:t>
            </a:r>
            <a:endParaRPr/>
          </a:p>
        </p:txBody>
      </p:sp>
      <p:sp>
        <p:nvSpPr>
          <p:cNvPr id="251" name="Google Shape;251;p17"/>
          <p:cNvSpPr txBox="1"/>
          <p:nvPr/>
        </p:nvSpPr>
        <p:spPr>
          <a:xfrm flipH="1">
            <a:off x="6879769" y="5747615"/>
            <a:ext cx="558437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Réalisé (modélisation du parcours)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Réalisé (modélisation du parcours)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perspective à réaliser</a:t>
            </a:r>
            <a:endParaRPr/>
          </a:p>
        </p:txBody>
      </p:sp>
      <p:pic>
        <p:nvPicPr>
          <p:cNvPr id="252" name="Google Shape;2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249" y="224545"/>
            <a:ext cx="1107320" cy="110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9820" y="195627"/>
            <a:ext cx="1209879" cy="123891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0258" y="222068"/>
            <a:ext cx="9765157" cy="6518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6766"/>
            <a:ext cx="1338701" cy="13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39334" y="117566"/>
            <a:ext cx="1524132" cy="156071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9109" y="209006"/>
            <a:ext cx="8832130" cy="655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117" y="91440"/>
            <a:ext cx="1761897" cy="1761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36134" y="209006"/>
            <a:ext cx="1524132" cy="156071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71824" y="-1042170"/>
            <a:ext cx="12663824" cy="8171103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0"/>
          <p:cNvSpPr txBox="1"/>
          <p:nvPr>
            <p:ph type="title"/>
          </p:nvPr>
        </p:nvSpPr>
        <p:spPr>
          <a:xfrm>
            <a:off x="3790108" y="2269067"/>
            <a:ext cx="4360691" cy="20504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fr-FR">
                <a:solidFill>
                  <a:schemeClr val="lt1"/>
                </a:solidFill>
              </a:rPr>
              <a:t>Merci pour votre attention </a:t>
            </a:r>
            <a:endParaRPr b="1">
              <a:highlight>
                <a:srgbClr val="FFFF00"/>
              </a:highlight>
            </a:endParaRPr>
          </a:p>
        </p:txBody>
      </p:sp>
      <p:pic>
        <p:nvPicPr>
          <p:cNvPr id="277" name="Google Shape;277;p20" title="20240313_165133.jpg"/>
          <p:cNvPicPr preferRelativeResize="0"/>
          <p:nvPr/>
        </p:nvPicPr>
        <p:blipFill rotWithShape="1">
          <a:blip r:embed="rId5">
            <a:alphaModFix/>
          </a:blip>
          <a:srcRect b="4792" l="11180" r="11180" t="4792"/>
          <a:stretch/>
        </p:blipFill>
        <p:spPr>
          <a:xfrm>
            <a:off x="7611136" y="4979574"/>
            <a:ext cx="1297540" cy="1489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0" title="photo-cc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4899" y="406276"/>
            <a:ext cx="1188730" cy="15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70804" y="1168134"/>
            <a:ext cx="1297539" cy="158128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5E8F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0" name="Google Shape;280;p20" title="Capture d’écran 2026-05-22 à 15.46.24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6553" y="3629761"/>
            <a:ext cx="1123163" cy="15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0" title="Capture d’écran 2026-05-22 à 15.47.08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1022" y="287773"/>
            <a:ext cx="1355889" cy="15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3929" y="3595538"/>
            <a:ext cx="1218843" cy="1447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632487" y="5043402"/>
            <a:ext cx="1236845" cy="1489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3350" y="1251616"/>
            <a:ext cx="1346236" cy="149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211317" y="5130586"/>
            <a:ext cx="1297541" cy="151787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0"/>
          <p:cNvSpPr txBox="1"/>
          <p:nvPr/>
        </p:nvSpPr>
        <p:spPr>
          <a:xfrm>
            <a:off x="277725" y="5889525"/>
            <a:ext cx="196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 Paris-Saclay,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fr-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PhD - M2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2026-06-09T20:19:11Z</dcterms:created>
  <dc:creator>Jerôme Béranger</dc:creator>
</cp:coreProperties>
</file>